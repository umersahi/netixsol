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Class Balance (% of rows)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76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761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≤$50K (majority)</c:v>
                </c:pt>
                <c:pt idx="1">
                  <c:v>&gt;$50K (target class)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76.1</c:v>
                </c:pt>
                <c:pt idx="1">
                  <c:v>23.9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76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Test-set F1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
Forest</c:v>
                  </c:pt>
                  <c:pt idx="1">
                    <c:v>Single
HistGB</c:v>
                  </c:pt>
                  <c:pt idx="2">
                    <c:v>XGBoost</c:v>
                  </c:pt>
                  <c:pt idx="3">
                    <c:v>Stacking
(RF+HistGB+XGB)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0.6736</c:v>
                </c:pt>
                <c:pt idx="1">
                  <c:v>0.7101</c:v>
                </c:pt>
                <c:pt idx="2">
                  <c:v>0.7077</c:v>
                </c:pt>
                <c:pt idx="3">
                  <c:v>0.7152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5"/>
          <c:min val="0.6"/>
        </c:scaling>
        <c:delete val="0"/>
        <c:axPos val="l"/>
        <c:majorGridlines>
          <c:spPr>
            <a:ln w="12700" cap="flat">
              <a:solidFill>
                <a:srgbClr val="E4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Cross-validation F1 (mean)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F1 (mean)</c:v>
                </c:pt>
              </c:strCache>
            </c:strRef>
          </c:tx>
          <c:spPr>
            <a:solidFill>
              <a:srgbClr val="1F9D55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 weighting
(selected)</c:v>
                  </c:pt>
                  <c:pt idx="1">
                    <c:v>Random over/
under-sampling</c:v>
                  </c:pt>
                  <c:pt idx="2">
                    <c:v>SMOTE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0.7134</c:v>
                </c:pt>
                <c:pt idx="1">
                  <c:v>0.7091</c:v>
                </c:pt>
                <c:pt idx="2">
                  <c:v>0.708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2"/>
          <c:min val="0.7"/>
        </c:scaling>
        <c:delete val="0"/>
        <c:axPos val="l"/>
        <c:majorGridlines>
          <c:spPr>
            <a:ln w="12700" cap="flat">
              <a:solidFill>
                <a:srgbClr val="E4E7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INCOME CLASSIFIER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Who Earns Over $50K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57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capstone model that supports prioritization and targeting decisions that depend on likely income level.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29768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3A459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4622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48,842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5166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in the dataset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429768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3A45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44622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23.9%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0" y="5166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over $50K (minority class)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4297680"/>
            <a:ext cx="3291840" cy="1463040"/>
          </a:xfrm>
          <a:prstGeom prst="roundRect">
            <a:avLst>
              <a:gd name="adj" fmla="val 7500"/>
            </a:avLst>
          </a:prstGeom>
          <a:solidFill>
            <a:srgbClr val="3A4590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44622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83880" y="51663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model + threshold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Income Classifier -- Stakeholder Briefing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Class Imbalance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234440"/>
          <a:ext cx="4297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137160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F2F4FA"/>
          </a:solidFill>
          <a:ln/>
        </p:spPr>
      </p:sp>
      <p:sp>
        <p:nvSpPr>
          <p:cNvPr id="5" name="Text 2"/>
          <p:cNvSpPr/>
          <p:nvPr/>
        </p:nvSpPr>
        <p:spPr>
          <a:xfrm>
            <a:off x="5806440" y="14447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34,189 / 7,326 / 7,327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806440" y="18105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rows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233172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F2F4FA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24048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3.18 : 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806440" y="27706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negative-to-positive class ratio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577840" y="356616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unaddressed, a 0.5-cutoff classifier would suppress recall on the minority (target) class in favor of accuracy.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is addressed with leakage-safe resampling and class weighting applied inside cross-validation only.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Income Classifier -- Stakeholder Briefing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architectures evaluated on the untouched test set (0.5 cutoff)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37160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600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F1: Stacking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(0.7152)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38160" y="2423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latency: XGBoost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~4.5x faster than stacking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138160" y="3246120"/>
            <a:ext cx="31089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34290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on F1, ROC AUC, PR AUC, and per-row inference latency -- not F1 alone.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is finalized after the imbalance experiments, not from this table alone.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Income Classifier -- Stakeholder Briefing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Imbalance-Handling Experiments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leakage-safe strategies, scored by 5-fold cross-validation F1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6675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371600"/>
            <a:ext cx="3931920" cy="4114800"/>
          </a:xfrm>
          <a:prstGeom prst="roundRect">
            <a:avLst>
              <a:gd name="adj" fmla="val 2791"/>
            </a:avLst>
          </a:prstGeom>
          <a:solidFill>
            <a:srgbClr val="F2F4FA"/>
          </a:solidFill>
          <a:ln/>
        </p:spPr>
      </p:sp>
      <p:sp>
        <p:nvSpPr>
          <p:cNvPr id="6" name="Shape 3"/>
          <p:cNvSpPr/>
          <p:nvPr/>
        </p:nvSpPr>
        <p:spPr>
          <a:xfrm>
            <a:off x="7863840" y="1645920"/>
            <a:ext cx="502920" cy="50292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30" dirty="0"/>
          </a:p>
        </p:txBody>
      </p:sp>
      <p:sp>
        <p:nvSpPr>
          <p:cNvPr id="8" name="Text 5"/>
          <p:cNvSpPr/>
          <p:nvPr/>
        </p:nvSpPr>
        <p:spPr>
          <a:xfrm>
            <a:off x="8549640" y="1645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Selected: class_weight = balanced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0" y="233172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on cross-validation F1 (0.7134) -- not by peeking at the hold-out set.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scored slightly higher on the hold-out test set (0.7139), but choosing from test-set results risks overfitting the model choice to that one split.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synthetic or duplicated training rows -- the model's loss weighting handles the imbalance directly.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Income Classifier -- Stakeholder Briefing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&amp; Production Threshold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+ class_weight=“balanced”, threshold frozen before the final refit and test evaluation.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3A45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threshold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3A459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828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0.7209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F1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3A45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28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0.9255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ROC AUC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3A4590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0" y="182880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0.6728 / 0.7764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26880" y="27889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2A337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050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9808" y="43891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selects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strategy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51760" y="42519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88920" y="39776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2A337A"/>
          </a:solidFill>
          <a:ln/>
        </p:spPr>
      </p:sp>
      <p:sp>
        <p:nvSpPr>
          <p:cNvPr id="21" name="Text 19"/>
          <p:cNvSpPr/>
          <p:nvPr/>
        </p:nvSpPr>
        <p:spPr>
          <a:xfrm>
            <a:off x="2898648" y="4050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98648" y="43891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threshold-validation split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42519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7760" y="39776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1F9D55"/>
          </a:solidFill>
          <a:ln/>
        </p:spPr>
      </p:sp>
      <p:sp>
        <p:nvSpPr>
          <p:cNvPr id="25" name="Text 23"/>
          <p:cNvSpPr/>
          <p:nvPr/>
        </p:nvSpPr>
        <p:spPr>
          <a:xfrm>
            <a:off x="5047488" y="4050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47488" y="43891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threshold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that split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949440" y="42519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86600" y="39776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2A337A"/>
          </a:solidFill>
          <a:ln/>
        </p:spPr>
      </p:sp>
      <p:sp>
        <p:nvSpPr>
          <p:cNvPr id="29" name="Text 27"/>
          <p:cNvSpPr/>
          <p:nvPr/>
        </p:nvSpPr>
        <p:spPr>
          <a:xfrm>
            <a:off x="7196328" y="4050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96328" y="43891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on 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98280" y="42519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35440" y="39776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2A337A"/>
          </a:solidFill>
          <a:ln/>
        </p:spPr>
      </p:sp>
      <p:sp>
        <p:nvSpPr>
          <p:cNvPr id="33" name="Text 31"/>
          <p:cNvSpPr/>
          <p:nvPr/>
        </p:nvSpPr>
        <p:spPr>
          <a:xfrm>
            <a:off x="9345168" y="40507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45168" y="4389120"/>
            <a:ext cx="179222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test set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5349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never re-selected once the model is refit on all training data -- one decision rule, used everywhere downstream (fairness, final evaluation, saved bundle, inference.py).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Income Classifier -- Stakeholder Briefing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Interpretability &amp; Fairness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predictions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global drivers (SHAP + permutation importance): marital status, age, capital gain, education-hours, education level.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true positive, one false positive, and one false negative walked through with SHAP waterfalls and plain-English summaries.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are associational, not causal.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F2F4F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-- False Negative (test row 3)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4370832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0.27 vs. threshold 0.63. A strong positive age signal was outweighed by marital-status and education-hours pushing the prediction below the cutoff.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gaps at the production threshold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50876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1280160"/>
                <a:gridCol w="777240"/>
                <a:gridCol w="777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0.692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0.726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Amer-Indian-Eskimo 0.625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0.725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126480" y="32461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720840" y="320040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recall and predicted-rate gaps exceed the 10-point flag. The worst-performing group, Amer-Indian-Eskimo, has only 73 rows -- and the smallest race subgroup overall (Other) has just 57 -- so part of the gap may be sampling noise.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4206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mitigations: group-specific thresholds, per-group reweighting, a proxy-feature audit, and more data for small subgroups.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Income Classifier -- Stakeholder Briefing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Monitoring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1430" dirty="0"/>
          </a:p>
        </p:txBody>
      </p:sp>
      <p:sp>
        <p:nvSpPr>
          <p:cNvPr id="5" name="Text 3"/>
          <p:cNvSpPr/>
          <p:nvPr/>
        </p:nvSpPr>
        <p:spPr>
          <a:xfrm>
            <a:off x="1325880" y="13533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 bundle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16642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frozen threshold + metadata, as capstone_income_pipeline.joblib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325880" y="24048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inference.py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271576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dict / list / DataFrame -&gt; probability, class, threshold, top-3 features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1325880" y="345643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 unit tests passing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376732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columns, unseen categories, threshold correctness, input types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monitor in production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/ score drift (PSI)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0.2 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Predicted-positive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vs. hold-out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±5pp warning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F1 vs. test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-5pt warn / -10pt 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Per-group fairness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+5pt widening =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126480" y="40690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F2F4FA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4206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cadence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355080" y="449884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scheduled retrain (full pipeline) + event-triggered retrain on confirmed drift; fairness re-checked before every deployment.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Income Classifier -- Stakeholder Briefing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60" dirty="0"/>
          </a:p>
        </p:txBody>
      </p:sp>
      <p:sp>
        <p:nvSpPr>
          <p:cNvPr id="5" name="Text 3"/>
          <p:cNvSpPr/>
          <p:nvPr/>
        </p:nvSpPr>
        <p:spPr>
          <a:xfrm>
            <a:off x="1417320" y="135331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 pilot / A-B test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73736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 held-out slice of live traffic through the model alongside the current process; compare business outcomes, not just F1, before full rollout.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4203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1417320" y="252374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imbalance choice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907792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class_weight=balanced on the stacking and XGBoost architectures to confirm it holds outside HistGB.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12464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1417320" y="369417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up monitoring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07822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Data/score drift, predicted-positive rate, rolling F1/recall, and monthly fairness gaps -- before go-live.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82896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82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417320" y="486460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on a cadence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24865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scheduled retrain plus event-triggered retrain on confirmed drift; fairness re-checked every time.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Income Classifier -- Stakeholder Briefing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2026-08-07T11:53:14Z</dcterms:created>
  <dcterms:modified xsi:type="dcterms:W3CDTF">2026-08-07T11:53:14Z</dcterms:modified>
</cp:coreProperties>
</file>